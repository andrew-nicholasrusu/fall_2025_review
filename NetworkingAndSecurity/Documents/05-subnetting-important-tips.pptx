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1"/>
  </p:notesMasterIdLst>
  <p:handoutMasterIdLst>
    <p:handoutMasterId r:id="rId22"/>
  </p:handoutMasterIdLst>
  <p:sldIdLst>
    <p:sldId id="257" r:id="rId2"/>
    <p:sldId id="936" r:id="rId3"/>
    <p:sldId id="896" r:id="rId4"/>
    <p:sldId id="858" r:id="rId5"/>
    <p:sldId id="859" r:id="rId6"/>
    <p:sldId id="897" r:id="rId7"/>
    <p:sldId id="930" r:id="rId8"/>
    <p:sldId id="898" r:id="rId9"/>
    <p:sldId id="899" r:id="rId10"/>
    <p:sldId id="931" r:id="rId11"/>
    <p:sldId id="932" r:id="rId12"/>
    <p:sldId id="933" r:id="rId13"/>
    <p:sldId id="901" r:id="rId14"/>
    <p:sldId id="937" r:id="rId15"/>
    <p:sldId id="938" r:id="rId16"/>
    <p:sldId id="935" r:id="rId17"/>
    <p:sldId id="289" r:id="rId18"/>
    <p:sldId id="939" r:id="rId19"/>
    <p:sldId id="94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8BAD53-997F-4270-8240-3933C6217BD2}" v="601" dt="2025-10-03T17:47:08.036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89" autoAdjust="0"/>
    <p:restoredTop sz="93074" autoAdjust="0"/>
  </p:normalViewPr>
  <p:slideViewPr>
    <p:cSldViewPr snapToGrid="0">
      <p:cViewPr varScale="1">
        <p:scale>
          <a:sx n="89" d="100"/>
          <a:sy n="89" d="100"/>
        </p:scale>
        <p:origin x="394" y="72"/>
      </p:cViewPr>
      <p:guideLst>
        <p:guide orient="horz" pos="2160"/>
        <p:guide pos="3840"/>
        <p:guide pos="7296"/>
        <p:guide orient="horz" pos="41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34" y="3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796EA6-6F25-4F19-87BA-7ADCC16DAEFF}" type="datetimeFigureOut">
              <a:rPr lang="en-US" smtClean="0"/>
              <a:t>10/7/2025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E50CC-F33A-4EF4-9F12-93EC4A21A0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3T15:31:20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1629 632 24575,'-4'1'0,"1"0"0,-1 0 0,0 0 0,1 1 0,-1-1 0,1 1 0,-1 0 0,1 0 0,-6 4 0,-8 4 0,-6 0 0,1-2 0,-1 0 0,-1-2 0,1 0 0,-1-2 0,-40 3 0,-151-8 0,101-2 0,-400 3 0,494-1 0,0-1 0,-1 0 0,1-2 0,0 0 0,1-1 0,-1-1 0,-20-10 0,-124-69 0,134 68 0,16 9 0,1 0 0,-1-1 0,2-1 0,-1 0 0,-20-22 0,27 26 0,1-1 0,0 0 0,1-1 0,-1 1 0,1-1 0,1 0 0,-1 0 0,1 0 0,1-1 0,0 1 0,0 0 0,-1-12 0,1-3 0,0 1 0,2-1 0,1 0 0,1 0 0,0 1 0,2-1 0,1 1 0,8-27 0,-10 41 0,0-1 0,1 1 0,-1 1 0,2-1 0,-1 1 0,1-1 0,0 1 0,0 0 0,1 1 0,0 0 0,0-1 0,0 2 0,1-1 0,0 1 0,0 0 0,1 1 0,-1-1 0,1 1 0,0 1 0,0 0 0,0 0 0,0 0 0,1 1 0,11-1 0,46-2 0,125 7 0,-58 3 0,917-5 0,-1025 0 0,0 1 0,0 1 0,0 1 0,0 2 0,0 0 0,31 12 0,-48-15 0,-1 1 0,1 1 0,-1-1 0,0 1 0,0 0 0,0 1 0,-1-1 0,1 1 0,-1 1 0,0-1 0,-1 1 0,1 0 0,-1 0 0,0 1 0,-1 0 0,0 0 0,0 0 0,0 0 0,-1 0 0,0 1 0,0 0 0,-1-1 0,3 13 0,-3-6 0,-1 1 0,0-1 0,-1 1 0,0 0 0,-1-1 0,-1 1 0,0-1 0,-1 0 0,0 1 0,-1-1 0,-1-1 0,-1 1 0,1-1 0,-2 0 0,-16 25 0,-6 4-88,6-7-550,-55 61-1,46-65-6187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3T15:32:13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3T15:32:13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C172E-A8B5-46F6-B05C-DFA3E2E0F207}" type="datetimeFigureOut">
              <a:rPr lang="en-US" smtClean="0"/>
              <a:t>10/7/2025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674CE4-FBD8-4481-AEFB-CA53E599A7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674CE4-FBD8-4481-AEFB-CA53E599A74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974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674CE4-FBD8-4481-AEFB-CA53E599A74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327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10.2.2.0    (it will end to 256). It is passes the range 10.2.3.0 . If we need to continue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674CE4-FBD8-4481-AEFB-CA53E599A74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47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3" name="Rectangle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4" name="Rectangle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5" name="Rectangle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6" name="Rectangle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7" name="Rectangle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0" name="Rectangle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1" name="Rectangle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2389009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  <a:endParaRPr kumimoji="0"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4E708F12-96AD-4ED4-8132-A78F5E42C1F5}" type="datetime1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8BEDD-6160-49BB-B372-861DE7DE9BA5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68322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E819F-B7FD-4B29-8F66-9E318144BC2A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341875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341875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A159C-B6E0-4F10-9F4A-2FA57003B139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 dirty="0"/>
              <a:t>Add a footer</a:t>
            </a:r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170CBBB-D1D1-4386-A5E9-07F3477B78F3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9FA4CAD8-0EA7-4615-B69B-B2F199EF3A93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4BD7-6953-492C-921B-E68B2D7F14C8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dirty="0"/>
              <a:t>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050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580573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17D9B-D4D3-4E23-88DF-2E354FA43196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67C5-D04E-4576-B61C-12ABA14BBD6C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5pPr>
              <a:defRPr/>
            </a:lvl5pPr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A170-8299-44AD-AEEF-FC686C3D7804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/>
          <a:lstStyle>
            <a:lvl1pPr>
              <a:defRPr/>
            </a:lvl1pPr>
          </a:lstStyle>
          <a:p>
            <a:r>
              <a:rPr kumimoji="0" lang="en-US" dirty="0"/>
              <a:t>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/>
          <a:lstStyle>
            <a:lvl5pPr>
              <a:defRPr/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763A-68EC-4ECD-9620-D9FE9CDDD622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0" name="Rectangle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1" name="Rectangle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2" name="Rectangle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5" name="Rectangle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8" name="Rectangle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9" name="Rectangle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40" name="Rectangle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C20F09E4-6EA4-4BF3-9FC8-FF40373B88E6}" type="datetime1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29.png"/><Relationship Id="rId10" Type="http://schemas.openxmlformats.org/officeDocument/2006/relationships/image" Target="../media/image33.png"/><Relationship Id="rId4" Type="http://schemas.openxmlformats.org/officeDocument/2006/relationships/customXml" Target="../ink/ink1.xml"/><Relationship Id="rId9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7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Networking and Internet Services(Subnetting Lecture 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</a:t>
            </a:r>
          </a:p>
          <a:p>
            <a:r>
              <a:rPr lang="en-US"/>
              <a:t>Omid Panahi</a:t>
            </a:r>
            <a:endParaRPr lang="en-US" dirty="0"/>
          </a:p>
        </p:txBody>
      </p:sp>
      <p:pic>
        <p:nvPicPr>
          <p:cNvPr id="5" name="Picture 4" descr="A picture containing indoor&#10;&#10;Description generated with high confidence">
            <a:extLst>
              <a:ext uri="{FF2B5EF4-FFF2-40B4-BE49-F238E27FC236}">
                <a16:creationId xmlns:a16="http://schemas.microsoft.com/office/drawing/2014/main" id="{6064D98B-8D79-4A7C-A34F-199A8D1CDE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679" y="5505061"/>
            <a:ext cx="3210522" cy="96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794DC-593A-1AAE-316A-A8BBD468C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0421B2-7A33-0DEC-9EBC-CBEA1A148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91" y="790413"/>
            <a:ext cx="3236482" cy="54399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B68094-8902-30E8-8689-C085ED1AFB27}"/>
              </a:ext>
            </a:extLst>
          </p:cNvPr>
          <p:cNvSpPr txBox="1"/>
          <p:nvPr/>
        </p:nvSpPr>
        <p:spPr>
          <a:xfrm>
            <a:off x="4263970" y="1284785"/>
            <a:ext cx="72745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Subnetting divides a large network into small sub networks</a:t>
            </a:r>
          </a:p>
          <a:p>
            <a:endParaRPr lang="en-US" dirty="0"/>
          </a:p>
          <a:p>
            <a:r>
              <a:rPr lang="en-US" dirty="0"/>
              <a:t>Network segmentation helps break down network to small subnet for many reason like security, cost and segregation. </a:t>
            </a:r>
          </a:p>
        </p:txBody>
      </p:sp>
    </p:spTree>
    <p:extLst>
      <p:ext uri="{BB962C8B-B14F-4D97-AF65-F5344CB8AC3E}">
        <p14:creationId xmlns:p14="http://schemas.microsoft.com/office/powerpoint/2010/main" val="1490669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81949-AA5F-AE9A-9C27-106DCE9D3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A48CE-9816-38AE-1132-F27DDB886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B4C158-F9B7-4C04-F644-F24A3A6660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6297" y="906379"/>
            <a:ext cx="8211696" cy="14003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737716-4EF5-5A25-C46E-CDF8ACD2A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881" y="2345462"/>
            <a:ext cx="3426326" cy="44115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67F203-B590-675E-C738-608EC6E06A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315" y="2440615"/>
            <a:ext cx="643336" cy="42212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83EFFA-0363-51F0-DBCA-02E4A6F9B7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215" y="2440615"/>
            <a:ext cx="654346" cy="42212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01B0EB5-2D5A-84EE-B849-DD50C5E0C2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215" y="2440615"/>
            <a:ext cx="747606" cy="42212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9FE0D3-29D6-8C2A-6912-3E9E50FA68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9301" y="2440615"/>
            <a:ext cx="799520" cy="43164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DC92D1-0A00-C522-E51E-BE275E335DFE}"/>
              </a:ext>
            </a:extLst>
          </p:cNvPr>
          <p:cNvSpPr txBox="1"/>
          <p:nvPr/>
        </p:nvSpPr>
        <p:spPr>
          <a:xfrm>
            <a:off x="1925391" y="3474383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Simply we can divide </a:t>
            </a:r>
          </a:p>
          <a:p>
            <a:r>
              <a:rPr lang="en-US" dirty="0"/>
              <a:t>Each block to 2.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BF1E3B-6D5A-12A3-E66E-69A575E351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3594" y="4000580"/>
            <a:ext cx="4648864" cy="241181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0A4618B-77EC-FA31-7F88-F1C82068C26C}"/>
              </a:ext>
            </a:extLst>
          </p:cNvPr>
          <p:cNvSpPr txBox="1"/>
          <p:nvPr/>
        </p:nvSpPr>
        <p:spPr>
          <a:xfrm>
            <a:off x="5164428" y="3023555"/>
            <a:ext cx="5857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need to resolve one or more of the following </a:t>
            </a:r>
          </a:p>
          <a:p>
            <a:r>
              <a:rPr lang="en-US" dirty="0"/>
              <a:t>items </a:t>
            </a:r>
          </a:p>
        </p:txBody>
      </p:sp>
    </p:spTree>
    <p:extLst>
      <p:ext uri="{BB962C8B-B14F-4D97-AF65-F5344CB8AC3E}">
        <p14:creationId xmlns:p14="http://schemas.microsoft.com/office/powerpoint/2010/main" val="1111934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185BD-95FF-A250-8EB3-F5623ED34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F28315-A425-B81D-1664-119DC84AF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5AD7DF-B846-131A-F766-AC15C908F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876" y="688065"/>
            <a:ext cx="12155164" cy="56395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9E6EDE-9156-ACD9-DD87-C6C1663264CD}"/>
              </a:ext>
            </a:extLst>
          </p:cNvPr>
          <p:cNvSpPr txBox="1"/>
          <p:nvPr/>
        </p:nvSpPr>
        <p:spPr>
          <a:xfrm>
            <a:off x="2498282" y="2684164"/>
            <a:ext cx="260367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We’ve taken the original /24 and broke it up into one /25 , two /27 and one /26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7C7F9C-9267-0AB1-0632-3B833AE32423}"/>
              </a:ext>
            </a:extLst>
          </p:cNvPr>
          <p:cNvSpPr txBox="1"/>
          <p:nvPr/>
        </p:nvSpPr>
        <p:spPr>
          <a:xfrm>
            <a:off x="5882354" y="2115203"/>
            <a:ext cx="5857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We need to resolve one or more of the following </a:t>
            </a:r>
          </a:p>
          <a:p>
            <a:r>
              <a:rPr lang="en-US" dirty="0">
                <a:solidFill>
                  <a:srgbClr val="FF0000"/>
                </a:solidFill>
              </a:rPr>
              <a:t>items </a:t>
            </a:r>
          </a:p>
        </p:txBody>
      </p:sp>
    </p:spTree>
    <p:extLst>
      <p:ext uri="{BB962C8B-B14F-4D97-AF65-F5344CB8AC3E}">
        <p14:creationId xmlns:p14="http://schemas.microsoft.com/office/powerpoint/2010/main" val="30089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54DDF-54B0-EF71-C226-69A6E44A5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C56FC5-45E5-B8AA-25E6-069B88913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8" y="431443"/>
            <a:ext cx="4545566" cy="6109698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E36B565-7E74-33CB-24D7-D6DA07943E9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851695" y="2774201"/>
            <a:ext cx="6119218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Seven attributes of Subnetting:</a:t>
            </a:r>
            <a:endParaRPr 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1400" b="1" dirty="0"/>
              <a:t>Network ID:</a:t>
            </a:r>
            <a:endParaRPr lang="en-US" sz="1400" dirty="0"/>
          </a:p>
          <a:p>
            <a:r>
              <a:rPr lang="en-US" sz="1400" b="1" dirty="0"/>
              <a:t>Broadcast IP:</a:t>
            </a:r>
          </a:p>
          <a:p>
            <a:r>
              <a:rPr lang="en-US" sz="1400" b="1" dirty="0"/>
              <a:t>First Host IP: </a:t>
            </a:r>
          </a:p>
          <a:p>
            <a:r>
              <a:rPr lang="en-US" sz="1400" b="1" dirty="0"/>
              <a:t>Last Host IP:</a:t>
            </a:r>
          </a:p>
          <a:p>
            <a:r>
              <a:rPr lang="en-US" sz="1400" b="1" dirty="0"/>
              <a:t>Next Network:</a:t>
            </a:r>
          </a:p>
          <a:p>
            <a:r>
              <a:rPr lang="en-US" sz="1400" b="1" dirty="0"/>
              <a:t>IP Addresses: </a:t>
            </a:r>
          </a:p>
          <a:p>
            <a:pPr marL="109728" indent="0">
              <a:buNone/>
            </a:pPr>
            <a:r>
              <a:rPr lang="en-US" sz="1400" b="1" dirty="0"/>
              <a:t>      </a:t>
            </a:r>
            <a:endParaRPr lang="en-US" sz="1400" dirty="0"/>
          </a:p>
          <a:p>
            <a:r>
              <a:rPr lang="en-US" sz="1400" b="1" dirty="0"/>
              <a:t>CIDR/Subnet: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31D7B0-77D2-28FD-2897-CE5790B9427A}"/>
              </a:ext>
            </a:extLst>
          </p:cNvPr>
          <p:cNvSpPr txBox="1"/>
          <p:nvPr/>
        </p:nvSpPr>
        <p:spPr>
          <a:xfrm>
            <a:off x="2075644" y="1407506"/>
            <a:ext cx="2674511" cy="1446550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Net ID: 10.0.0.0</a:t>
            </a:r>
          </a:p>
          <a:p>
            <a:r>
              <a:rPr lang="en-US" sz="1200" dirty="0"/>
              <a:t>BC IP: 10.0.0.127</a:t>
            </a:r>
          </a:p>
          <a:p>
            <a:r>
              <a:rPr lang="en-US" sz="1200" dirty="0"/>
              <a:t>First Host: 10.0.0.1 </a:t>
            </a:r>
            <a:r>
              <a:rPr lang="en-US" sz="700" dirty="0"/>
              <a:t>(Net ID+1</a:t>
            </a:r>
            <a:r>
              <a:rPr lang="en-US" sz="800" dirty="0"/>
              <a:t>)</a:t>
            </a:r>
            <a:endParaRPr lang="en-US" sz="1200" dirty="0"/>
          </a:p>
          <a:p>
            <a:r>
              <a:rPr lang="en-US" sz="1200" dirty="0"/>
              <a:t>Last IP: 10.0.0.126 </a:t>
            </a:r>
            <a:r>
              <a:rPr lang="en-US" sz="700" dirty="0"/>
              <a:t>(BC-1)</a:t>
            </a:r>
            <a:endParaRPr lang="en-US" sz="900" dirty="0"/>
          </a:p>
          <a:p>
            <a:r>
              <a:rPr lang="en-US" sz="900" i="1" dirty="0"/>
              <a:t>Next Net: 10.0.0.128 (BC +1)</a:t>
            </a:r>
          </a:p>
          <a:p>
            <a:endParaRPr lang="en-US" sz="700" dirty="0"/>
          </a:p>
          <a:p>
            <a:r>
              <a:rPr lang="en-US" sz="1200" dirty="0"/>
              <a:t>#Ips= 2^(32-25)=</a:t>
            </a:r>
            <a:r>
              <a:rPr lang="en-US" sz="900" dirty="0"/>
              <a:t>128</a:t>
            </a:r>
            <a:endParaRPr lang="en-US" sz="1200" dirty="0"/>
          </a:p>
          <a:p>
            <a:r>
              <a:rPr lang="en-US" sz="1200" dirty="0"/>
              <a:t>Subnet: 255.255.255.128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4EF08E-0B31-53C1-C2CE-40E1BA2FE6D8}"/>
              </a:ext>
            </a:extLst>
          </p:cNvPr>
          <p:cNvSpPr txBox="1"/>
          <p:nvPr/>
        </p:nvSpPr>
        <p:spPr>
          <a:xfrm>
            <a:off x="2115739" y="3143628"/>
            <a:ext cx="2514130" cy="1508105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Net ID: 10.0.0.128</a:t>
            </a:r>
          </a:p>
          <a:p>
            <a:r>
              <a:rPr lang="en-US" sz="1200" dirty="0"/>
              <a:t>BC IP: 10.0.0.159</a:t>
            </a:r>
          </a:p>
          <a:p>
            <a:r>
              <a:rPr lang="en-US" sz="1200" dirty="0"/>
              <a:t>First Host: </a:t>
            </a:r>
            <a:r>
              <a:rPr lang="en-US" sz="1100" dirty="0"/>
              <a:t>10.0.0.129</a:t>
            </a:r>
            <a:r>
              <a:rPr lang="en-US" sz="1200" dirty="0"/>
              <a:t> </a:t>
            </a:r>
            <a:r>
              <a:rPr lang="en-US" sz="600" dirty="0"/>
              <a:t>(Net ID+1)</a:t>
            </a:r>
          </a:p>
          <a:p>
            <a:r>
              <a:rPr lang="en-US" sz="1000" b="1" dirty="0"/>
              <a:t>Last Host : 10.0.0.158   </a:t>
            </a:r>
            <a:r>
              <a:rPr lang="en-US" sz="700" b="1" dirty="0"/>
              <a:t>(BC-1)</a:t>
            </a:r>
          </a:p>
          <a:p>
            <a:r>
              <a:rPr lang="en-US" sz="1000" i="1" dirty="0"/>
              <a:t>Next Net: 10.0.0.160 (BC +1)</a:t>
            </a:r>
          </a:p>
          <a:p>
            <a:endParaRPr lang="en-US" sz="1200" dirty="0"/>
          </a:p>
          <a:p>
            <a:r>
              <a:rPr lang="en-US" sz="1200" dirty="0"/>
              <a:t>#Ips= 2^(32-27)=32</a:t>
            </a:r>
          </a:p>
          <a:p>
            <a:r>
              <a:rPr lang="en-US" sz="1200" dirty="0"/>
              <a:t>Subnet: 255.255.255.224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FB996E-21ED-E715-B56C-D2DCE3E0A158}"/>
              </a:ext>
            </a:extLst>
          </p:cNvPr>
          <p:cNvSpPr txBox="1"/>
          <p:nvPr/>
        </p:nvSpPr>
        <p:spPr>
          <a:xfrm>
            <a:off x="1995452" y="5158557"/>
            <a:ext cx="2674511" cy="138499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#Ips= 2^(32-26)=64</a:t>
            </a:r>
          </a:p>
          <a:p>
            <a:r>
              <a:rPr lang="en-US" sz="1200" dirty="0"/>
              <a:t>Subnet: 255.255.255.192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FBF1EC-1B7D-F252-9564-CF6D1A709DCE}"/>
              </a:ext>
            </a:extLst>
          </p:cNvPr>
          <p:cNvSpPr txBox="1"/>
          <p:nvPr/>
        </p:nvSpPr>
        <p:spPr>
          <a:xfrm>
            <a:off x="7602228" y="4311721"/>
            <a:ext cx="436868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Number of IP addresses in Sub-network(total number in each block)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73E80D-280E-C411-D468-51C8692BECDA}"/>
              </a:ext>
            </a:extLst>
          </p:cNvPr>
          <p:cNvSpPr txBox="1"/>
          <p:nvPr/>
        </p:nvSpPr>
        <p:spPr>
          <a:xfrm>
            <a:off x="7779107" y="4814983"/>
            <a:ext cx="43686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Converting between CIDR/Subnet Mask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EE4672-71B3-7D5D-2A71-126142F7DFF6}"/>
              </a:ext>
            </a:extLst>
          </p:cNvPr>
          <p:cNvSpPr txBox="1"/>
          <p:nvPr/>
        </p:nvSpPr>
        <p:spPr>
          <a:xfrm>
            <a:off x="7540443" y="3037414"/>
            <a:ext cx="43686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First IP address in each Sub-Network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CDB9490-7961-4E73-D4AA-89F220C7C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824" y="849499"/>
            <a:ext cx="1054248" cy="569164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92045D2-43B8-38A7-D83B-C0DC346DEFD1}"/>
              </a:ext>
            </a:extLst>
          </p:cNvPr>
          <p:cNvSpPr txBox="1"/>
          <p:nvPr/>
        </p:nvSpPr>
        <p:spPr>
          <a:xfrm>
            <a:off x="7690667" y="3291330"/>
            <a:ext cx="43686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Last IP address in each Sub-Network</a:t>
            </a:r>
          </a:p>
        </p:txBody>
      </p:sp>
      <p:sp>
        <p:nvSpPr>
          <p:cNvPr id="21" name="Arrow: Left 20">
            <a:extLst>
              <a:ext uri="{FF2B5EF4-FFF2-40B4-BE49-F238E27FC236}">
                <a16:creationId xmlns:a16="http://schemas.microsoft.com/office/drawing/2014/main" id="{9779D0F9-FEA2-DFB3-ED7E-5456C1820B47}"/>
              </a:ext>
            </a:extLst>
          </p:cNvPr>
          <p:cNvSpPr/>
          <p:nvPr/>
        </p:nvSpPr>
        <p:spPr>
          <a:xfrm>
            <a:off x="1898763" y="3882325"/>
            <a:ext cx="96689" cy="4571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7D4606-2174-23DF-D79D-A88A437E1241}"/>
              </a:ext>
            </a:extLst>
          </p:cNvPr>
          <p:cNvSpPr txBox="1"/>
          <p:nvPr/>
        </p:nvSpPr>
        <p:spPr>
          <a:xfrm>
            <a:off x="3938074" y="2420650"/>
            <a:ext cx="8719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(126 usable)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B31992-C349-D03E-475A-FCB3A49B3135}"/>
              </a:ext>
            </a:extLst>
          </p:cNvPr>
          <p:cNvSpPr txBox="1"/>
          <p:nvPr/>
        </p:nvSpPr>
        <p:spPr>
          <a:xfrm>
            <a:off x="3953689" y="4230060"/>
            <a:ext cx="8719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(30 usable)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059208-B34D-05F9-94AE-A36BBA316DE9}"/>
              </a:ext>
            </a:extLst>
          </p:cNvPr>
          <p:cNvSpPr txBox="1"/>
          <p:nvPr/>
        </p:nvSpPr>
        <p:spPr>
          <a:xfrm>
            <a:off x="7690667" y="3545246"/>
            <a:ext cx="43686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IP address immediately after Network ID (Net ID +1)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5D0F00-B26C-EF98-A9ED-E9BC81485675}"/>
              </a:ext>
            </a:extLst>
          </p:cNvPr>
          <p:cNvSpPr txBox="1"/>
          <p:nvPr/>
        </p:nvSpPr>
        <p:spPr>
          <a:xfrm>
            <a:off x="7646447" y="3821442"/>
            <a:ext cx="43686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IP address before Broadcast IP (BC-1)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2311B1-09E2-63D0-6412-847FEE6BA5D4}"/>
              </a:ext>
            </a:extLst>
          </p:cNvPr>
          <p:cNvSpPr txBox="1"/>
          <p:nvPr/>
        </p:nvSpPr>
        <p:spPr>
          <a:xfrm>
            <a:off x="7891918" y="4083866"/>
            <a:ext cx="43686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IP address after Broadcast IP  (BC +1)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B16074-CA64-B0E8-3A9F-E68C51391CCD}"/>
              </a:ext>
            </a:extLst>
          </p:cNvPr>
          <p:cNvSpPr txBox="1"/>
          <p:nvPr/>
        </p:nvSpPr>
        <p:spPr>
          <a:xfrm>
            <a:off x="6123933" y="813728"/>
            <a:ext cx="55565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 cannot assign </a:t>
            </a:r>
            <a:r>
              <a:rPr lang="en-US" sz="1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NetworkID</a:t>
            </a:r>
            <a:r>
              <a:rPr lang="en-U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Broadcast IP to any device</a:t>
            </a:r>
          </a:p>
        </p:txBody>
      </p:sp>
    </p:spTree>
    <p:extLst>
      <p:ext uri="{BB962C8B-B14F-4D97-AF65-F5344CB8AC3E}">
        <p14:creationId xmlns:p14="http://schemas.microsoft.com/office/powerpoint/2010/main" val="3220275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0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6" grpId="0"/>
      <p:bldP spid="17" grpId="0"/>
      <p:bldP spid="18" grpId="0"/>
      <p:bldP spid="20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9080E-EE1D-C7A9-DD3D-2AA1E7BD8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B37B1-BA2D-4708-55CB-11467989C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99821"/>
            <a:ext cx="10972800" cy="1066800"/>
          </a:xfrm>
        </p:spPr>
        <p:txBody>
          <a:bodyPr/>
          <a:lstStyle/>
          <a:p>
            <a:r>
              <a:rPr lang="en-US" dirty="0"/>
              <a:t>Drawing the table for subnetting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8A9D56-2CE2-86B2-1A41-34890FFA05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3363" y="1566621"/>
            <a:ext cx="10972800" cy="12660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B1764E-E8DC-3EF2-0731-C0CC998B1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63" y="3878846"/>
            <a:ext cx="10888595" cy="11622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E2EAF0-6A56-1888-93A0-036F668571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63" y="2287292"/>
            <a:ext cx="6601746" cy="8002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CB22DB-C945-F959-7097-CD20077E3F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643" y="3774967"/>
            <a:ext cx="1544520" cy="12660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FBFCD2B-9082-4724-5088-0857254220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3810" y="3679177"/>
            <a:ext cx="1327833" cy="13618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8EAD22-49A0-7A65-5069-2B2B29A74B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363" y="4952902"/>
            <a:ext cx="11021963" cy="70494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CEE0DAA-4F82-7F3A-CF4B-82C71859D9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027" y="2878697"/>
            <a:ext cx="10272793" cy="7863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2BB4BBC-6569-3529-E0AC-E9D6A8907C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363" y="5581396"/>
            <a:ext cx="11021963" cy="81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909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67999-3A76-26C2-9C3C-128FA1201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84E02-6D81-A846-85F5-2BAE6C5F0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99821"/>
            <a:ext cx="10972800" cy="1066800"/>
          </a:xfrm>
        </p:spPr>
        <p:txBody>
          <a:bodyPr/>
          <a:lstStyle/>
          <a:p>
            <a:r>
              <a:rPr lang="en-US" dirty="0"/>
              <a:t>Drawing the table for subnetting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410900-CDB8-3286-AEED-822E06AD84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3363" y="1566621"/>
            <a:ext cx="10972800" cy="12660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34756B-A133-55E9-7724-69608A099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63" y="2287292"/>
            <a:ext cx="6601746" cy="80021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35AAA21-EDB4-6126-333E-B21D9CED1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027" y="2878697"/>
            <a:ext cx="10272793" cy="78639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CDA3B11-5C49-5CB5-1E1D-328D1A3CD6FA}"/>
              </a:ext>
            </a:extLst>
          </p:cNvPr>
          <p:cNvGrpSpPr/>
          <p:nvPr/>
        </p:nvGrpSpPr>
        <p:grpSpPr>
          <a:xfrm>
            <a:off x="348713" y="4198343"/>
            <a:ext cx="9306732" cy="1790950"/>
            <a:chOff x="493363" y="3878846"/>
            <a:chExt cx="10888595" cy="250427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408A2E8-B094-5254-AD95-DCC219A6A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3363" y="3878846"/>
              <a:ext cx="10888595" cy="1162212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B8B1F10-1FE1-1EBB-1475-BCB388B97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3363" y="4952902"/>
              <a:ext cx="10888595" cy="696418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695A8A2-1103-5DEC-DB19-7F073B018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3363" y="5581396"/>
              <a:ext cx="10888595" cy="801728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FE1D0FD-B050-15B6-CA19-97F090FECC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5445" y="4269782"/>
            <a:ext cx="2341763" cy="159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462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14EA8-2AB1-4270-ACEF-705F4F60E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88AE91-58F9-A4B8-911B-2FE464D86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417" y="352720"/>
            <a:ext cx="6802515" cy="13046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832A8D-0DB7-EE6E-84B0-E9A468A1A29B}"/>
              </a:ext>
            </a:extLst>
          </p:cNvPr>
          <p:cNvSpPr txBox="1"/>
          <p:nvPr/>
        </p:nvSpPr>
        <p:spPr>
          <a:xfrm>
            <a:off x="7597366" y="1917853"/>
            <a:ext cx="3569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10.1.1.55/28 Target IP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6DF5A2-70EE-4775-7DD4-C0630BB5A869}"/>
              </a:ext>
            </a:extLst>
          </p:cNvPr>
          <p:cNvSpPr txBox="1"/>
          <p:nvPr/>
        </p:nvSpPr>
        <p:spPr>
          <a:xfrm>
            <a:off x="307906" y="3963376"/>
            <a:ext cx="6094708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Network ID: First IP in each network:</a:t>
            </a:r>
            <a:endParaRPr lang="en-US" sz="1300" dirty="0"/>
          </a:p>
          <a:p>
            <a:r>
              <a:rPr lang="en-US" sz="1300" dirty="0"/>
              <a:t>Broadcast IP: Last IP address in each network: </a:t>
            </a:r>
          </a:p>
          <a:p>
            <a:r>
              <a:rPr lang="en-US" sz="1300" dirty="0"/>
              <a:t>First Host IP: IP address after the network ID: </a:t>
            </a:r>
          </a:p>
          <a:p>
            <a:r>
              <a:rPr lang="en-US" sz="1300" dirty="0"/>
              <a:t>Last Host IP: IP address before the Broadcast: </a:t>
            </a:r>
          </a:p>
          <a:p>
            <a:r>
              <a:rPr lang="en-US" sz="1300" dirty="0"/>
              <a:t>Next Network: IP address after Broadcast IP :</a:t>
            </a:r>
          </a:p>
          <a:p>
            <a:r>
              <a:rPr lang="en-US" sz="1300" dirty="0"/>
              <a:t>IP Addresses: Number of IP addresses in each network:  </a:t>
            </a:r>
          </a:p>
          <a:p>
            <a:pPr marL="109728" indent="0">
              <a:buNone/>
            </a:pPr>
            <a:r>
              <a:rPr lang="en-US" dirty="0"/>
              <a:t>      </a:t>
            </a:r>
          </a:p>
          <a:p>
            <a:r>
              <a:rPr lang="en-US" sz="1300" dirty="0"/>
              <a:t>CIDR/Subnet: Converting between CIDR/Subnet Mask: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2B045A7-97A9-88F1-1D51-59BDDA6724E0}"/>
              </a:ext>
            </a:extLst>
          </p:cNvPr>
          <p:cNvGrpSpPr/>
          <p:nvPr/>
        </p:nvGrpSpPr>
        <p:grpSpPr>
          <a:xfrm>
            <a:off x="8837704" y="467297"/>
            <a:ext cx="661145" cy="1075526"/>
            <a:chOff x="8837704" y="467297"/>
            <a:chExt cx="661145" cy="107552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20E4E4-0E85-BEFD-AD09-2C044E6D965E}"/>
                </a:ext>
              </a:extLst>
            </p:cNvPr>
            <p:cNvSpPr/>
            <p:nvPr/>
          </p:nvSpPr>
          <p:spPr>
            <a:xfrm>
              <a:off x="8885432" y="842327"/>
              <a:ext cx="565688" cy="325465"/>
            </a:xfrm>
            <a:prstGeom prst="rect">
              <a:avLst/>
            </a:prstGeom>
            <a:solidFill>
              <a:schemeClr val="accent5">
                <a:lumMod val="75000"/>
                <a:alpha val="51000"/>
              </a:scheme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3C2930A-298D-9535-957F-355C0276AA96}"/>
                </a:ext>
              </a:extLst>
            </p:cNvPr>
            <p:cNvSpPr/>
            <p:nvPr/>
          </p:nvSpPr>
          <p:spPr>
            <a:xfrm>
              <a:off x="8885432" y="1195169"/>
              <a:ext cx="565688" cy="325465"/>
            </a:xfrm>
            <a:prstGeom prst="rect">
              <a:avLst/>
            </a:prstGeom>
            <a:solidFill>
              <a:schemeClr val="accent5">
                <a:lumMod val="75000"/>
                <a:alpha val="51000"/>
              </a:scheme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849FE32-34FF-A01A-679F-1CE1AEE87E6E}"/>
                </a:ext>
              </a:extLst>
            </p:cNvPr>
            <p:cNvSpPr/>
            <p:nvPr/>
          </p:nvSpPr>
          <p:spPr>
            <a:xfrm>
              <a:off x="8837704" y="467297"/>
              <a:ext cx="661145" cy="1075526"/>
            </a:xfrm>
            <a:prstGeom prst="rect">
              <a:avLst/>
            </a:prstGeom>
            <a:solidFill>
              <a:schemeClr val="bg1">
                <a:alpha val="4000"/>
              </a:scheme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366F57A-2493-B61F-C23C-1E72561230CE}"/>
              </a:ext>
            </a:extLst>
          </p:cNvPr>
          <p:cNvSpPr txBox="1"/>
          <p:nvPr/>
        </p:nvSpPr>
        <p:spPr>
          <a:xfrm>
            <a:off x="5008893" y="5381544"/>
            <a:ext cx="19159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255.255.255.240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8CBF4D-AB50-8D47-7E8E-7C1D5506BB54}"/>
              </a:ext>
            </a:extLst>
          </p:cNvPr>
          <p:cNvSpPr txBox="1"/>
          <p:nvPr/>
        </p:nvSpPr>
        <p:spPr>
          <a:xfrm>
            <a:off x="190706" y="753723"/>
            <a:ext cx="545668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Steps-1: use table to find the right column</a:t>
            </a:r>
          </a:p>
          <a:p>
            <a:pPr marL="800100" lvl="1" indent="-342900">
              <a:buAutoNum type="alphaLcPeriod"/>
            </a:pPr>
            <a:r>
              <a:rPr lang="en-US" sz="1200" dirty="0"/>
              <a:t>CIDR/Subnet Mask map to each other</a:t>
            </a:r>
          </a:p>
          <a:p>
            <a:pPr marL="800100" lvl="1" indent="-342900">
              <a:buAutoNum type="alphaLcPeriod"/>
            </a:pPr>
            <a:r>
              <a:rPr lang="en-US" sz="1200" dirty="0"/>
              <a:t>Locate Group size</a:t>
            </a:r>
          </a:p>
          <a:p>
            <a:pPr marL="800100" lvl="1" indent="-342900">
              <a:buAutoNum type="alphaLcPeriod"/>
            </a:pPr>
            <a:r>
              <a:rPr lang="en-US" sz="1200" dirty="0"/>
              <a:t>Start at .0 in relevant Octet</a:t>
            </a:r>
          </a:p>
          <a:p>
            <a:pPr marL="800100" lvl="1" indent="-342900">
              <a:buAutoNum type="alphaLcPeriod"/>
            </a:pPr>
            <a:r>
              <a:rPr lang="en-US" sz="1200" dirty="0"/>
              <a:t>Increase by Group Size until you PASS target IP</a:t>
            </a:r>
          </a:p>
          <a:p>
            <a:endParaRPr lang="en-US" sz="1200" dirty="0"/>
          </a:p>
          <a:p>
            <a:r>
              <a:rPr lang="en-US" sz="1200" dirty="0"/>
              <a:t>Step-2: Number before target IP is </a:t>
            </a: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 ID</a:t>
            </a:r>
          </a:p>
          <a:p>
            <a:r>
              <a:rPr lang="en-US" sz="1200" dirty="0"/>
              <a:t>Step-3 : Number After Target IP is the </a:t>
            </a: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Next Network</a:t>
            </a:r>
          </a:p>
          <a:p>
            <a:r>
              <a:rPr lang="en-US" sz="1200" dirty="0"/>
              <a:t>Step-4: IP address BEFORE next Network is </a:t>
            </a: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Broadcast IP</a:t>
            </a:r>
          </a:p>
          <a:p>
            <a:r>
              <a:rPr lang="en-US" sz="1200" dirty="0"/>
              <a:t>Step-5: IP address after Network ID is the </a:t>
            </a: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Host</a:t>
            </a:r>
          </a:p>
          <a:p>
            <a:r>
              <a:rPr lang="en-US" sz="1400" dirty="0"/>
              <a:t>Step-6: IP address Before Broadcast IP is </a:t>
            </a:r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Last Host</a:t>
            </a:r>
          </a:p>
          <a:p>
            <a:r>
              <a:rPr lang="en-US" sz="1400" dirty="0"/>
              <a:t>Step-7: Group size is total # of </a:t>
            </a:r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IP addresses</a:t>
            </a:r>
          </a:p>
          <a:p>
            <a:endParaRPr 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1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1D58D67-8822-35E3-7C65-D4A371A77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231" y="2451406"/>
            <a:ext cx="924945" cy="2119410"/>
          </a:xfrm>
          <a:prstGeom prst="rect">
            <a:avLst/>
          </a:prstGeom>
        </p:spPr>
      </p:pic>
      <p:sp>
        <p:nvSpPr>
          <p:cNvPr id="19" name="Double Brace 18">
            <a:extLst>
              <a:ext uri="{FF2B5EF4-FFF2-40B4-BE49-F238E27FC236}">
                <a16:creationId xmlns:a16="http://schemas.microsoft.com/office/drawing/2014/main" id="{84767F56-5290-F8A1-A521-981A9151923F}"/>
              </a:ext>
            </a:extLst>
          </p:cNvPr>
          <p:cNvSpPr/>
          <p:nvPr/>
        </p:nvSpPr>
        <p:spPr>
          <a:xfrm>
            <a:off x="7896386" y="2354161"/>
            <a:ext cx="1929539" cy="1768388"/>
          </a:xfrm>
          <a:prstGeom prst="bracePair">
            <a:avLst/>
          </a:prstGeom>
          <a:solidFill>
            <a:schemeClr val="bg1">
              <a:lumMod val="85000"/>
              <a:alpha val="30000"/>
            </a:schemeClr>
          </a:solidFill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06B0ADE-5B91-EA86-46F6-1B64158807B6}"/>
              </a:ext>
            </a:extLst>
          </p:cNvPr>
          <p:cNvCxnSpPr/>
          <p:nvPr/>
        </p:nvCxnSpPr>
        <p:spPr>
          <a:xfrm>
            <a:off x="7308526" y="4122549"/>
            <a:ext cx="37643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rrow: Left 21">
            <a:extLst>
              <a:ext uri="{FF2B5EF4-FFF2-40B4-BE49-F238E27FC236}">
                <a16:creationId xmlns:a16="http://schemas.microsoft.com/office/drawing/2014/main" id="{39C3D35E-102E-370E-CBD1-2E188974B458}"/>
              </a:ext>
            </a:extLst>
          </p:cNvPr>
          <p:cNvSpPr/>
          <p:nvPr/>
        </p:nvSpPr>
        <p:spPr>
          <a:xfrm>
            <a:off x="9425749" y="3778986"/>
            <a:ext cx="706544" cy="18439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BB1D89-591C-1B4D-9E76-94671609BB03}"/>
              </a:ext>
            </a:extLst>
          </p:cNvPr>
          <p:cNvSpPr txBox="1"/>
          <p:nvPr/>
        </p:nvSpPr>
        <p:spPr>
          <a:xfrm>
            <a:off x="3355260" y="3943980"/>
            <a:ext cx="1146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10.1.1.48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5504C3-B74F-1A0E-8851-CC9E545FBA63}"/>
              </a:ext>
            </a:extLst>
          </p:cNvPr>
          <p:cNvSpPr txBox="1"/>
          <p:nvPr/>
        </p:nvSpPr>
        <p:spPr>
          <a:xfrm>
            <a:off x="4184949" y="4704667"/>
            <a:ext cx="1146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10.1.1.64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E91702-0F2A-E151-CB90-0F741399D751}"/>
              </a:ext>
            </a:extLst>
          </p:cNvPr>
          <p:cNvSpPr txBox="1"/>
          <p:nvPr/>
        </p:nvSpPr>
        <p:spPr>
          <a:xfrm>
            <a:off x="4297978" y="4117209"/>
            <a:ext cx="1146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10.1.1.63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C02661-3724-AF14-E04F-DCA86976A79F}"/>
              </a:ext>
            </a:extLst>
          </p:cNvPr>
          <p:cNvSpPr txBox="1"/>
          <p:nvPr/>
        </p:nvSpPr>
        <p:spPr>
          <a:xfrm>
            <a:off x="4343310" y="4279833"/>
            <a:ext cx="1146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10.1.1.49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865BE1-EAD0-AD64-8A5E-AB1EC1B1FB25}"/>
              </a:ext>
            </a:extLst>
          </p:cNvPr>
          <p:cNvSpPr txBox="1"/>
          <p:nvPr/>
        </p:nvSpPr>
        <p:spPr>
          <a:xfrm>
            <a:off x="4297978" y="4499992"/>
            <a:ext cx="1146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10.1.1.62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E283BE-4B22-1515-1577-C0298416D746}"/>
              </a:ext>
            </a:extLst>
          </p:cNvPr>
          <p:cNvSpPr txBox="1"/>
          <p:nvPr/>
        </p:nvSpPr>
        <p:spPr>
          <a:xfrm>
            <a:off x="5074152" y="4908077"/>
            <a:ext cx="55515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2^(32-CIDR)=2^(32-28)=2^4=16 (but this is total. </a:t>
            </a:r>
          </a:p>
          <a:p>
            <a:r>
              <a:rPr lang="en-US" sz="1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usable will be 16-2=14 </a:t>
            </a:r>
          </a:p>
        </p:txBody>
      </p:sp>
    </p:spTree>
    <p:extLst>
      <p:ext uri="{BB962C8B-B14F-4D97-AF65-F5344CB8AC3E}">
        <p14:creationId xmlns:p14="http://schemas.microsoft.com/office/powerpoint/2010/main" val="3101519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19" grpId="0" animBg="1"/>
      <p:bldP spid="22" grpId="0" animBg="1"/>
      <p:bldP spid="23" grpId="0"/>
      <p:bldP spid="24" grpId="0"/>
      <p:bldP spid="25" grpId="0"/>
      <p:bldP spid="27" grpId="0"/>
      <p:bldP spid="28" grpId="0"/>
      <p:bldP spid="2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007D6-1102-DA86-C867-D61C4E7E2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40706E-CDBB-2340-C6D5-6E970EC2D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417" y="352720"/>
            <a:ext cx="6802515" cy="13046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F310D9-EC2C-3208-7ED8-2CF911F851E5}"/>
              </a:ext>
            </a:extLst>
          </p:cNvPr>
          <p:cNvSpPr txBox="1"/>
          <p:nvPr/>
        </p:nvSpPr>
        <p:spPr>
          <a:xfrm>
            <a:off x="98679" y="4203599"/>
            <a:ext cx="6094708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Network ID: First IP in each network:</a:t>
            </a:r>
            <a:endParaRPr lang="en-US" sz="1300" dirty="0"/>
          </a:p>
          <a:p>
            <a:r>
              <a:rPr lang="en-US" sz="1300" dirty="0"/>
              <a:t>Broadcast IP: Last IP address in each network: </a:t>
            </a:r>
          </a:p>
          <a:p>
            <a:r>
              <a:rPr lang="en-US" sz="1300" dirty="0"/>
              <a:t>First Host IP: IP address after the network ID: </a:t>
            </a:r>
          </a:p>
          <a:p>
            <a:r>
              <a:rPr lang="en-US" sz="1300" dirty="0"/>
              <a:t>Last Host IP: IP address before the Broadcast: </a:t>
            </a:r>
          </a:p>
          <a:p>
            <a:r>
              <a:rPr lang="en-US" sz="1300" dirty="0"/>
              <a:t>Next Network: IP address after Broadcast IP :</a:t>
            </a:r>
          </a:p>
          <a:p>
            <a:r>
              <a:rPr lang="en-US" sz="1300" dirty="0"/>
              <a:t>IP Addresses: Number of IP addresses in each network:  </a:t>
            </a:r>
          </a:p>
          <a:p>
            <a:pPr marL="109728" indent="0">
              <a:buNone/>
            </a:pPr>
            <a:r>
              <a:rPr lang="en-US" dirty="0"/>
              <a:t>      </a:t>
            </a:r>
          </a:p>
          <a:p>
            <a:r>
              <a:rPr lang="en-US" sz="1300" dirty="0"/>
              <a:t>CIDR/Subnet: Converting between CIDR/Subnet Mask: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61290C-9007-9AAB-1B14-1952CC92E09C}"/>
              </a:ext>
            </a:extLst>
          </p:cNvPr>
          <p:cNvSpPr txBox="1"/>
          <p:nvPr/>
        </p:nvSpPr>
        <p:spPr>
          <a:xfrm>
            <a:off x="964091" y="941460"/>
            <a:ext cx="35691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10.1.1.37/29</a:t>
            </a:r>
          </a:p>
          <a:p>
            <a:endParaRPr lang="en-US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try this? </a:t>
            </a:r>
          </a:p>
        </p:txBody>
      </p:sp>
    </p:spTree>
    <p:extLst>
      <p:ext uri="{BB962C8B-B14F-4D97-AF65-F5344CB8AC3E}">
        <p14:creationId xmlns:p14="http://schemas.microsoft.com/office/powerpoint/2010/main" val="2049944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73D8568-53CD-1426-F3DD-CD528716C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8D6219-D522-3A74-E509-ADAF0BFFF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417" y="352720"/>
            <a:ext cx="6802515" cy="13046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37CA9E-7A76-F462-9331-5831828045A4}"/>
              </a:ext>
            </a:extLst>
          </p:cNvPr>
          <p:cNvSpPr txBox="1"/>
          <p:nvPr/>
        </p:nvSpPr>
        <p:spPr>
          <a:xfrm>
            <a:off x="98679" y="4203599"/>
            <a:ext cx="6094708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Network ID: First IP in each network:</a:t>
            </a:r>
            <a:endParaRPr lang="en-US" sz="1300" dirty="0"/>
          </a:p>
          <a:p>
            <a:r>
              <a:rPr lang="en-US" sz="1300" dirty="0"/>
              <a:t>Broadcast IP: Last IP address in each network: </a:t>
            </a:r>
          </a:p>
          <a:p>
            <a:r>
              <a:rPr lang="en-US" sz="1300" dirty="0"/>
              <a:t>First Host IP: IP address after the network ID: </a:t>
            </a:r>
          </a:p>
          <a:p>
            <a:r>
              <a:rPr lang="en-US" sz="1300" dirty="0"/>
              <a:t>Last Host IP: IP address before the Broadcast: </a:t>
            </a:r>
          </a:p>
          <a:p>
            <a:r>
              <a:rPr lang="en-US" sz="1300" dirty="0"/>
              <a:t>Next Network: IP address after Broadcast IP :</a:t>
            </a:r>
          </a:p>
          <a:p>
            <a:r>
              <a:rPr lang="en-US" sz="1300" dirty="0"/>
              <a:t>IP Addresses: Number of IP addresses in each network:  </a:t>
            </a:r>
          </a:p>
          <a:p>
            <a:pPr marL="109728" indent="0">
              <a:buNone/>
            </a:pPr>
            <a:r>
              <a:rPr lang="en-US" dirty="0"/>
              <a:t>      </a:t>
            </a:r>
          </a:p>
          <a:p>
            <a:r>
              <a:rPr lang="en-US" sz="1300" dirty="0"/>
              <a:t>CIDR/Subnet: Converting between CIDR/Subnet Mask: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AEB1C0-92EC-DE90-78FE-EEEB235677AA}"/>
              </a:ext>
            </a:extLst>
          </p:cNvPr>
          <p:cNvSpPr txBox="1"/>
          <p:nvPr/>
        </p:nvSpPr>
        <p:spPr>
          <a:xfrm>
            <a:off x="1219813" y="884686"/>
            <a:ext cx="35691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10.2.2.20/30</a:t>
            </a:r>
          </a:p>
          <a:p>
            <a:endParaRPr lang="en-US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try this? </a:t>
            </a:r>
          </a:p>
        </p:txBody>
      </p:sp>
    </p:spTree>
    <p:extLst>
      <p:ext uri="{BB962C8B-B14F-4D97-AF65-F5344CB8AC3E}">
        <p14:creationId xmlns:p14="http://schemas.microsoft.com/office/powerpoint/2010/main" val="3032276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9DE9FC5-0AA7-8501-F3E7-0872E33D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D0C509-0635-2EDE-7A16-930E207C8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1417" y="352720"/>
            <a:ext cx="6802515" cy="13046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2C563-1766-8BFC-27C4-70569B9988A5}"/>
              </a:ext>
            </a:extLst>
          </p:cNvPr>
          <p:cNvSpPr txBox="1"/>
          <p:nvPr/>
        </p:nvSpPr>
        <p:spPr>
          <a:xfrm>
            <a:off x="98679" y="4203599"/>
            <a:ext cx="6094708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Network ID: First IP in each network:</a:t>
            </a:r>
            <a:endParaRPr lang="en-US" sz="1300" dirty="0"/>
          </a:p>
          <a:p>
            <a:r>
              <a:rPr lang="en-US" sz="1300" dirty="0"/>
              <a:t>Broadcast IP: Last IP address in each network: </a:t>
            </a:r>
          </a:p>
          <a:p>
            <a:r>
              <a:rPr lang="en-US" sz="1300" dirty="0"/>
              <a:t>First Host IP: IP address after the network ID: </a:t>
            </a:r>
          </a:p>
          <a:p>
            <a:r>
              <a:rPr lang="en-US" sz="1300" dirty="0"/>
              <a:t>Last Host IP: IP address before the Broadcast: </a:t>
            </a:r>
          </a:p>
          <a:p>
            <a:r>
              <a:rPr lang="en-US" sz="1300" dirty="0"/>
              <a:t>Next Network: IP address after Broadcast IP :</a:t>
            </a:r>
          </a:p>
          <a:p>
            <a:r>
              <a:rPr lang="en-US" sz="1300" dirty="0"/>
              <a:t>IP Addresses: Number of IP addresses in each network:  </a:t>
            </a:r>
          </a:p>
          <a:p>
            <a:pPr marL="109728" indent="0">
              <a:buNone/>
            </a:pPr>
            <a:r>
              <a:rPr lang="en-US" dirty="0"/>
              <a:t>      </a:t>
            </a:r>
          </a:p>
          <a:p>
            <a:r>
              <a:rPr lang="en-US" sz="1300" dirty="0"/>
              <a:t>CIDR/Subnet: Converting between CIDR/Subnet Mask: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8ADB6E-99CC-F125-E65A-8A3B108016E2}"/>
              </a:ext>
            </a:extLst>
          </p:cNvPr>
          <p:cNvSpPr txBox="1"/>
          <p:nvPr/>
        </p:nvSpPr>
        <p:spPr>
          <a:xfrm>
            <a:off x="483644" y="1473622"/>
            <a:ext cx="35691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10.2.2.199/26</a:t>
            </a:r>
          </a:p>
          <a:p>
            <a:endParaRPr lang="en-US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try this? </a:t>
            </a:r>
          </a:p>
        </p:txBody>
      </p:sp>
    </p:spTree>
    <p:extLst>
      <p:ext uri="{BB962C8B-B14F-4D97-AF65-F5344CB8AC3E}">
        <p14:creationId xmlns:p14="http://schemas.microsoft.com/office/powerpoint/2010/main" val="906323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6A1FC-900D-7D25-64AA-2893BAACE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D8FB-F795-5DAE-875D-8A607FA5E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665" y="453168"/>
            <a:ext cx="109728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Drawing the table for subnetting for /17- /24 range(3</a:t>
            </a:r>
            <a:r>
              <a:rPr lang="en-US" baseline="30000" dirty="0"/>
              <a:t>rd</a:t>
            </a:r>
            <a:r>
              <a:rPr lang="en-US" dirty="0"/>
              <a:t> octet)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35128A-2538-5772-5CC0-B3920446E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65" y="1688548"/>
            <a:ext cx="10058281" cy="498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621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62C84-A2D8-0BFE-CC44-887D4AFF9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D943BE-FBF0-AA0F-BA10-48DF7A46831B}"/>
              </a:ext>
            </a:extLst>
          </p:cNvPr>
          <p:cNvSpPr txBox="1"/>
          <p:nvPr/>
        </p:nvSpPr>
        <p:spPr>
          <a:xfrm>
            <a:off x="1645984" y="1356272"/>
            <a:ext cx="93423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Remember: </a:t>
            </a:r>
            <a:r>
              <a:rPr lang="en-US" dirty="0"/>
              <a:t>For subnet mask , you work with 3</a:t>
            </a:r>
            <a:r>
              <a:rPr lang="en-US" baseline="30000" dirty="0"/>
              <a:t>rd</a:t>
            </a:r>
            <a:r>
              <a:rPr lang="en-US" dirty="0"/>
              <a:t> digit and not the last one </a:t>
            </a:r>
          </a:p>
          <a:p>
            <a:r>
              <a:rPr lang="en-US" sz="1800" dirty="0"/>
              <a:t>Also </a:t>
            </a:r>
            <a:r>
              <a:rPr lang="en-US" dirty="0"/>
              <a:t>to find the target IP we will look at 3</a:t>
            </a:r>
            <a:r>
              <a:rPr lang="en-US" baseline="30000" dirty="0"/>
              <a:t>rd</a:t>
            </a:r>
            <a:r>
              <a:rPr lang="en-US" dirty="0"/>
              <a:t> digit in our IP</a:t>
            </a:r>
          </a:p>
          <a:p>
            <a:r>
              <a:rPr lang="en-US" sz="1800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1EC45E-04A0-E743-1C85-24A3A0CBE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924" y="2462077"/>
            <a:ext cx="3391373" cy="19338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75C857-4974-1E9F-C971-4ADF9B446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57" y="2462077"/>
            <a:ext cx="6401693" cy="13908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74B56E1-0989-0806-F215-526EB19606CE}"/>
              </a:ext>
            </a:extLst>
          </p:cNvPr>
          <p:cNvSpPr txBox="1"/>
          <p:nvPr/>
        </p:nvSpPr>
        <p:spPr>
          <a:xfrm>
            <a:off x="662609" y="4863548"/>
            <a:ext cx="548419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dirty="0" err="1"/>
              <a:t>Subnet</a:t>
            </a:r>
            <a:r>
              <a:rPr lang="fr-CA" dirty="0"/>
              <a:t> Mask</a:t>
            </a:r>
            <a:r>
              <a:rPr lang="en-US" dirty="0"/>
              <a:t>/CIDR : Class B : 255.255.224.0</a:t>
            </a:r>
          </a:p>
          <a:p>
            <a:r>
              <a:rPr lang="en-US" dirty="0"/>
              <a:t>Next Network: 10.4.96.0</a:t>
            </a:r>
          </a:p>
          <a:p>
            <a:r>
              <a:rPr lang="en-US" dirty="0"/>
              <a:t>Network ID : 10.4.64.0</a:t>
            </a:r>
          </a:p>
          <a:p>
            <a:r>
              <a:rPr lang="en-US" dirty="0"/>
              <a:t>Broadcast: 10.4.95.255</a:t>
            </a:r>
          </a:p>
          <a:p>
            <a:r>
              <a:rPr lang="en-US" dirty="0"/>
              <a:t>First Host: 10.4.64.1</a:t>
            </a:r>
          </a:p>
          <a:p>
            <a:r>
              <a:rPr lang="en-US" dirty="0"/>
              <a:t>Last Host: 10.4.95.254</a:t>
            </a:r>
          </a:p>
          <a:p>
            <a:r>
              <a:rPr lang="en-US" dirty="0"/>
              <a:t>IP range = 2 ^ (32-CIDR)=2 ^13=8192 </a:t>
            </a:r>
          </a:p>
        </p:txBody>
      </p:sp>
    </p:spTree>
    <p:extLst>
      <p:ext uri="{BB962C8B-B14F-4D97-AF65-F5344CB8AC3E}">
        <p14:creationId xmlns:p14="http://schemas.microsoft.com/office/powerpoint/2010/main" val="159784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89A69-A9C8-D2BD-654D-1AED6D126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716355F-71DB-6AA0-8D9B-6DB97897E947}"/>
              </a:ext>
            </a:extLst>
          </p:cNvPr>
          <p:cNvSpPr txBox="1"/>
          <p:nvPr/>
        </p:nvSpPr>
        <p:spPr>
          <a:xfrm>
            <a:off x="1373851" y="4530330"/>
            <a:ext cx="465781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dirty="0" err="1"/>
              <a:t>Subnet</a:t>
            </a:r>
            <a:r>
              <a:rPr lang="fr-CA" dirty="0"/>
              <a:t> Mask</a:t>
            </a:r>
            <a:r>
              <a:rPr lang="en-US" dirty="0"/>
              <a:t>/CIDR : 255.255.248.0</a:t>
            </a:r>
          </a:p>
          <a:p>
            <a:r>
              <a:rPr lang="en-US" dirty="0"/>
              <a:t>Next Network: 10.4.240.0</a:t>
            </a:r>
          </a:p>
          <a:p>
            <a:r>
              <a:rPr lang="en-US" dirty="0"/>
              <a:t>Network ID : 10.4.232.0</a:t>
            </a:r>
          </a:p>
          <a:p>
            <a:r>
              <a:rPr lang="en-US" dirty="0"/>
              <a:t> Broadcast: 10.4.239.255</a:t>
            </a:r>
          </a:p>
          <a:p>
            <a:r>
              <a:rPr lang="en-US" dirty="0"/>
              <a:t>First Host:  10.4.232.1</a:t>
            </a:r>
          </a:p>
          <a:p>
            <a:r>
              <a:rPr lang="en-US" dirty="0"/>
              <a:t>Last Host:  1.4.239.254</a:t>
            </a:r>
          </a:p>
          <a:p>
            <a:r>
              <a:rPr lang="en-US" dirty="0"/>
              <a:t>IP range = 2^(32-CIDR)=2^11=2048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53E430-9DE9-2A29-3355-FEF3BFD01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88" y="697084"/>
            <a:ext cx="10860016" cy="15146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572B5C-B5D0-C242-CD65-095B9BCDF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88" y="2553234"/>
            <a:ext cx="4877481" cy="12479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69ACDD2-1A30-426A-25C0-18F8A075A166}"/>
                  </a:ext>
                </a:extLst>
              </p14:cNvPr>
              <p14:cNvContentPartPr/>
              <p14:nvPr/>
            </p14:nvContentPartPr>
            <p14:xfrm>
              <a:off x="2849426" y="1184207"/>
              <a:ext cx="710280" cy="255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69ACDD2-1A30-426A-25C0-18F8A075A16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43306" y="1178087"/>
                <a:ext cx="72252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5F72A01-2502-0F76-B78C-7B17875B533F}"/>
                  </a:ext>
                </a:extLst>
              </p14:cNvPr>
              <p14:cNvContentPartPr/>
              <p14:nvPr/>
            </p14:nvContentPartPr>
            <p14:xfrm>
              <a:off x="3684021" y="1312007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5F72A01-2502-0F76-B78C-7B17875B533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77901" y="1305887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AC099B68-6985-17BB-ACEA-65E97EE6E2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2209" y="1184207"/>
            <a:ext cx="1648055" cy="11431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3DD7A7E-3924-1676-3697-769C72B121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68849" y="1612251"/>
            <a:ext cx="905001" cy="65731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3C5E6C7-4947-E47D-8CCF-E839F528CBF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64466" y="1563980"/>
            <a:ext cx="419158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79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4339B-CE86-8733-720D-91F439C7A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B03F61C-A2CB-FC85-E6ED-5A2E17CE84DB}"/>
              </a:ext>
            </a:extLst>
          </p:cNvPr>
          <p:cNvSpPr txBox="1"/>
          <p:nvPr/>
        </p:nvSpPr>
        <p:spPr>
          <a:xfrm>
            <a:off x="232078" y="4623095"/>
            <a:ext cx="55723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 err="1"/>
              <a:t>Subnet</a:t>
            </a:r>
            <a:r>
              <a:rPr lang="fr-CA" dirty="0"/>
              <a:t> Mask</a:t>
            </a:r>
            <a:r>
              <a:rPr lang="en-US" dirty="0"/>
              <a:t>/CIDR : 255.255.192.0</a:t>
            </a:r>
          </a:p>
          <a:p>
            <a:r>
              <a:rPr lang="en-US" dirty="0"/>
              <a:t>Next Network: 10.5.0.0</a:t>
            </a:r>
          </a:p>
          <a:p>
            <a:r>
              <a:rPr lang="en-US" dirty="0"/>
              <a:t>Network ID : 10.4.192.0</a:t>
            </a:r>
          </a:p>
          <a:p>
            <a:r>
              <a:rPr lang="en-US" dirty="0"/>
              <a:t>Broadcast: 10.4.255.255</a:t>
            </a:r>
          </a:p>
          <a:p>
            <a:r>
              <a:rPr lang="en-US" dirty="0"/>
              <a:t>First Host:  10.4.192.1</a:t>
            </a:r>
          </a:p>
          <a:p>
            <a:r>
              <a:rPr lang="en-US" dirty="0"/>
              <a:t>Last Host:  10.4.255.254</a:t>
            </a:r>
          </a:p>
          <a:p>
            <a:r>
              <a:rPr lang="en-US" dirty="0"/>
              <a:t>IP range = 2^(32-18)= 2^14=16384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955AF48-C7E1-2603-4E85-705BF0FD52CB}"/>
                  </a:ext>
                </a:extLst>
              </p14:cNvPr>
              <p14:cNvContentPartPr/>
              <p14:nvPr/>
            </p14:nvContentPartPr>
            <p14:xfrm>
              <a:off x="3684021" y="1312007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955AF48-C7E1-2603-4E85-705BF0FD52C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77901" y="1305887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86311C2-05C3-C11B-9854-CE1DC3A91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5945" y="845217"/>
            <a:ext cx="3458058" cy="4667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EF7E7D-A224-17B5-DCFF-461805ABA5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079" y="664216"/>
            <a:ext cx="6506483" cy="12955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13D0B9-5712-5F07-4BB7-58405E8B55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8197" y="1312006"/>
            <a:ext cx="1076475" cy="16480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6FDA67E-89C3-CF9F-254D-D08E069A95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5945" y="3316833"/>
            <a:ext cx="3429479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814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6657B-DD59-52AB-BBE2-E98087E2C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097210-6E81-55DA-2039-ECA0074AA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45" y="1092022"/>
            <a:ext cx="10872751" cy="544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502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AF7392-53C6-F5A4-AF59-5005F456C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25" y="824185"/>
            <a:ext cx="11212490" cy="20291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D72D2A-4893-9780-A9CB-2D3F7CBE7777}"/>
              </a:ext>
            </a:extLst>
          </p:cNvPr>
          <p:cNvSpPr txBox="1"/>
          <p:nvPr/>
        </p:nvSpPr>
        <p:spPr>
          <a:xfrm>
            <a:off x="642896" y="4004708"/>
            <a:ext cx="55723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 err="1"/>
              <a:t>Subnet</a:t>
            </a:r>
            <a:r>
              <a:rPr lang="fr-CA" dirty="0"/>
              <a:t> Mask</a:t>
            </a:r>
            <a:r>
              <a:rPr lang="en-US" dirty="0"/>
              <a:t>/CIDR : 255.240.0.0</a:t>
            </a:r>
          </a:p>
          <a:p>
            <a:r>
              <a:rPr lang="en-US" dirty="0"/>
              <a:t>Next Network: 10.64.0.0</a:t>
            </a:r>
          </a:p>
          <a:p>
            <a:r>
              <a:rPr lang="en-US" dirty="0"/>
              <a:t>Network ID : 10.48.0.0</a:t>
            </a:r>
          </a:p>
          <a:p>
            <a:r>
              <a:rPr lang="en-US" dirty="0"/>
              <a:t>Broadcast: 10.63.255.255</a:t>
            </a:r>
          </a:p>
          <a:p>
            <a:r>
              <a:rPr lang="en-US" dirty="0"/>
              <a:t>First Host:  10.48.0.1</a:t>
            </a:r>
          </a:p>
          <a:p>
            <a:r>
              <a:rPr lang="en-US" dirty="0"/>
              <a:t>Last Host:  10.63.255.254</a:t>
            </a:r>
          </a:p>
          <a:p>
            <a:r>
              <a:rPr lang="en-US" dirty="0"/>
              <a:t>IP range = 2^(32-12)=2^20=1024*1024=1048576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B0C8EF-77AE-1DBD-5268-7D904DAE3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543" y="1402327"/>
            <a:ext cx="2848373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97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EA513-9728-1DAB-CB1A-C323064FA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D29336-A82B-9226-E521-28D4CB621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57" y="734532"/>
            <a:ext cx="11041016" cy="19433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7DCF76-B20B-7938-0E3A-0EA9FCAAF7EE}"/>
              </a:ext>
            </a:extLst>
          </p:cNvPr>
          <p:cNvSpPr txBox="1"/>
          <p:nvPr/>
        </p:nvSpPr>
        <p:spPr>
          <a:xfrm>
            <a:off x="523627" y="4362517"/>
            <a:ext cx="55723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 err="1"/>
              <a:t>Subnet</a:t>
            </a:r>
            <a:r>
              <a:rPr lang="fr-CA" dirty="0"/>
              <a:t> Mask</a:t>
            </a:r>
            <a:r>
              <a:rPr lang="en-US" dirty="0"/>
              <a:t>/CIDR : 254.0.0</a:t>
            </a:r>
          </a:p>
          <a:p>
            <a:r>
              <a:rPr lang="en-US" dirty="0"/>
              <a:t>Next Network: 12.0.0.0</a:t>
            </a:r>
          </a:p>
          <a:p>
            <a:r>
              <a:rPr lang="en-US" dirty="0"/>
              <a:t>Network ID : 10.0.0.0</a:t>
            </a:r>
          </a:p>
          <a:p>
            <a:r>
              <a:rPr lang="en-US" dirty="0"/>
              <a:t>Broadcast: 11.255.255.255</a:t>
            </a:r>
          </a:p>
          <a:p>
            <a:r>
              <a:rPr lang="en-US" dirty="0"/>
              <a:t>First Host:  10.0.0.1</a:t>
            </a:r>
          </a:p>
          <a:p>
            <a:r>
              <a:rPr lang="en-US" dirty="0"/>
              <a:t>Last Host:  11.255.255.254</a:t>
            </a:r>
          </a:p>
          <a:p>
            <a:r>
              <a:rPr lang="en-US" dirty="0"/>
              <a:t>IP range: 2^(32-7)=2^25=33,554,432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49365A-5C5F-1B0F-67C9-BDFECAA32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002" y="1262311"/>
            <a:ext cx="3639058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251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D0932-A4EC-4FEA-928B-6B1D41FA1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lipart&#10;&#10;Description generated with high confidence">
            <a:extLst>
              <a:ext uri="{FF2B5EF4-FFF2-40B4-BE49-F238E27FC236}">
                <a16:creationId xmlns:a16="http://schemas.microsoft.com/office/drawing/2014/main" id="{1E2D54E4-E1C9-90A8-DE15-52F5B92C3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6225" y="2619375"/>
            <a:ext cx="4019550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551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aining presentation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aining presentation.potx" id="{7B9FCAFE-DDE5-4198-9987-54DFCAD80598}" vid="{6015A8B0-C387-4E39-945C-0F39E3EB10B6}"/>
    </a:ext>
  </a:extLst>
</a:theme>
</file>

<file path=ppt/theme/theme2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Training presentation</Template>
  <TotalTime>4188</TotalTime>
  <Words>985</Words>
  <Application>Microsoft Office PowerPoint</Application>
  <PresentationFormat>Widescreen</PresentationFormat>
  <Paragraphs>164</Paragraphs>
  <Slides>19</Slides>
  <Notes>3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Calibri</vt:lpstr>
      <vt:lpstr>Consolas</vt:lpstr>
      <vt:lpstr>Georgia</vt:lpstr>
      <vt:lpstr>Verdana</vt:lpstr>
      <vt:lpstr>Wingdings 2</vt:lpstr>
      <vt:lpstr>Training presentation</vt:lpstr>
      <vt:lpstr>Networking and Internet Services(Subnetting Lecture )</vt:lpstr>
      <vt:lpstr>PowerPoint Presentation</vt:lpstr>
      <vt:lpstr> </vt:lpstr>
      <vt:lpstr>PowerPoint Presentation</vt:lpstr>
      <vt:lpstr>PowerPoint Presentation</vt:lpstr>
      <vt:lpstr>Drawing the table for subnetting</vt:lpstr>
      <vt:lpstr>Drawing the table for subnetting</vt:lpstr>
      <vt:lpstr>PowerPoint Presentation</vt:lpstr>
      <vt:lpstr>PowerPoint Presentation</vt:lpstr>
      <vt:lpstr>PowerPoint Presentation</vt:lpstr>
      <vt:lpstr>PowerPoint Presentation</vt:lpstr>
      <vt:lpstr>Drawing the table for subnetting for /17- /24 range(3rd octet)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Training Presentation</dc:title>
  <dc:creator>Brendan L. Wood</dc:creator>
  <cp:lastModifiedBy>Andrew-Nicholas Rusu</cp:lastModifiedBy>
  <cp:revision>81</cp:revision>
  <dcterms:created xsi:type="dcterms:W3CDTF">2017-08-20T02:20:11Z</dcterms:created>
  <dcterms:modified xsi:type="dcterms:W3CDTF">2025-10-08T03:15:58Z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